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cea8889c734d45" /><Relationship Type="http://schemas.openxmlformats.org/officeDocument/2006/relationships/extended-properties" Target="/docProps/app.xml" Id="R23395a706cf84008" /><Relationship Type="http://schemas.openxmlformats.org/officeDocument/2006/relationships/officeDocument" Target="/ppt/presentation.xml" Id="R6a4ccb4b5a1747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f0a680c10b428b"/>
  </p:sldMasterIdLst>
  <p:notesMasterIdLst>
    <p:notesMasterId xmlns:r="http://schemas.openxmlformats.org/officeDocument/2006/relationships" r:id="Re6cf7a53e9414d2e"/>
  </p:notesMasterIdLst>
  <p:sldIdLst>
    <p:sldId xmlns:r="http://schemas.openxmlformats.org/officeDocument/2006/relationships" id="256" r:id="Ra698a80002ea42ba"/>
    <p:sldId xmlns:r="http://schemas.openxmlformats.org/officeDocument/2006/relationships" id="257" r:id="R2f2a800449034fe0"/>
    <p:sldId xmlns:r="http://schemas.openxmlformats.org/officeDocument/2006/relationships" id="258" r:id="R46c826a2a43645fa"/>
    <p:sldId xmlns:r="http://schemas.openxmlformats.org/officeDocument/2006/relationships" id="259" r:id="Rd6a4a7e464ab4bc4"/>
    <p:sldId xmlns:r="http://schemas.openxmlformats.org/officeDocument/2006/relationships" id="260" r:id="Rf9bbe7bf91014da7"/>
    <p:sldId xmlns:r="http://schemas.openxmlformats.org/officeDocument/2006/relationships" id="261" r:id="R9d276fea9b5e47d4"/>
    <p:sldId xmlns:r="http://schemas.openxmlformats.org/officeDocument/2006/relationships" id="262" r:id="R7860cb4d4de54bea"/>
    <p:sldId xmlns:r="http://schemas.openxmlformats.org/officeDocument/2006/relationships" id="263" r:id="R1fefc47134f34d2f"/>
    <p:sldId xmlns:r="http://schemas.openxmlformats.org/officeDocument/2006/relationships" id="264" r:id="R7d2c51a039b84c12"/>
    <p:sldId xmlns:r="http://schemas.openxmlformats.org/officeDocument/2006/relationships" id="265" r:id="R24437bc28f9c48e4"/>
    <p:sldId xmlns:r="http://schemas.openxmlformats.org/officeDocument/2006/relationships" id="266" r:id="R365a65123b9e4a25"/>
    <p:sldId xmlns:r="http://schemas.openxmlformats.org/officeDocument/2006/relationships" id="267" r:id="R1589da4b21be4a82"/>
    <p:sldId xmlns:r="http://schemas.openxmlformats.org/officeDocument/2006/relationships" id="268" r:id="R6702c75627a14f01"/>
    <p:sldId xmlns:r="http://schemas.openxmlformats.org/officeDocument/2006/relationships" id="269" r:id="R4ea003c4f2c543f7"/>
    <p:sldId xmlns:r="http://schemas.openxmlformats.org/officeDocument/2006/relationships" id="270" r:id="R8ac1981be5be4447"/>
    <p:sldId xmlns:r="http://schemas.openxmlformats.org/officeDocument/2006/relationships" id="271" r:id="Rc5afea22a6164b34"/>
    <p:sldId xmlns:r="http://schemas.openxmlformats.org/officeDocument/2006/relationships" id="272" r:id="Rc55ec22ae4aa45ba"/>
    <p:sldId xmlns:r="http://schemas.openxmlformats.org/officeDocument/2006/relationships" id="273" r:id="Rabbd71550e5449e4"/>
    <p:sldId xmlns:r="http://schemas.openxmlformats.org/officeDocument/2006/relationships" id="274" r:id="Ra85d02f4232d49a9"/>
    <p:sldId xmlns:r="http://schemas.openxmlformats.org/officeDocument/2006/relationships" id="275" r:id="R450a967959b14ddf"/>
    <p:sldId xmlns:r="http://schemas.openxmlformats.org/officeDocument/2006/relationships" id="276" r:id="R9ecd339100f1463d"/>
    <p:sldId xmlns:r="http://schemas.openxmlformats.org/officeDocument/2006/relationships" id="277" r:id="Ra563aecca70b4312"/>
    <p:sldId xmlns:r="http://schemas.openxmlformats.org/officeDocument/2006/relationships" id="278" r:id="R7eccc9fe0c2b4dab"/>
    <p:sldId xmlns:r="http://schemas.openxmlformats.org/officeDocument/2006/relationships" id="279" r:id="R87e755ed996e417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79088ac48d4563" /><Relationship Type="http://schemas.openxmlformats.org/officeDocument/2006/relationships/slideMaster" Target="/ppt/slideMasters/slideMaster1.xml" Id="R86f0a680c10b428b" /><Relationship Type="http://schemas.openxmlformats.org/officeDocument/2006/relationships/notesMaster" Target="/ppt/notesMasters/notesMaster1.xml" Id="Re6cf7a53e9414d2e" /><Relationship Type="http://schemas.openxmlformats.org/officeDocument/2006/relationships/presProps" Target="/ppt/presProps.xml" Id="Rc8d9d98a0a04431b" /><Relationship Type="http://schemas.openxmlformats.org/officeDocument/2006/relationships/tableStyles" Target="/ppt/tableStyles.xml" Id="R706b274a5c344ccf" /><Relationship Type="http://schemas.openxmlformats.org/officeDocument/2006/relationships/slide" Target="/ppt/slides/slide1.xml" Id="Ra698a80002ea42ba" /><Relationship Type="http://schemas.openxmlformats.org/officeDocument/2006/relationships/slide" Target="/ppt/slides/slide2.xml" Id="R2f2a800449034fe0" /><Relationship Type="http://schemas.openxmlformats.org/officeDocument/2006/relationships/slide" Target="/ppt/slides/slide3.xml" Id="R46c826a2a43645fa" /><Relationship Type="http://schemas.openxmlformats.org/officeDocument/2006/relationships/slide" Target="/ppt/slides/slide4.xml" Id="Rd6a4a7e464ab4bc4" /><Relationship Type="http://schemas.openxmlformats.org/officeDocument/2006/relationships/slide" Target="/ppt/slides/slide5.xml" Id="Rf9bbe7bf91014da7" /><Relationship Type="http://schemas.openxmlformats.org/officeDocument/2006/relationships/slide" Target="/ppt/slides/slide6.xml" Id="R9d276fea9b5e47d4" /><Relationship Type="http://schemas.openxmlformats.org/officeDocument/2006/relationships/slide" Target="/ppt/slides/slide7.xml" Id="R7860cb4d4de54bea" /><Relationship Type="http://schemas.openxmlformats.org/officeDocument/2006/relationships/slide" Target="/ppt/slides/slide8.xml" Id="R1fefc47134f34d2f" /><Relationship Type="http://schemas.openxmlformats.org/officeDocument/2006/relationships/slide" Target="/ppt/slides/slide9.xml" Id="R7d2c51a039b84c12" /><Relationship Type="http://schemas.openxmlformats.org/officeDocument/2006/relationships/slide" Target="/ppt/slides/slide10.xml" Id="R24437bc28f9c48e4" /><Relationship Type="http://schemas.openxmlformats.org/officeDocument/2006/relationships/slide" Target="/ppt/slides/slide11.xml" Id="R365a65123b9e4a25" /><Relationship Type="http://schemas.openxmlformats.org/officeDocument/2006/relationships/slide" Target="/ppt/slides/slide12.xml" Id="R1589da4b21be4a82" /><Relationship Type="http://schemas.openxmlformats.org/officeDocument/2006/relationships/slide" Target="/ppt/slides/slide13.xml" Id="R6702c75627a14f01" /><Relationship Type="http://schemas.openxmlformats.org/officeDocument/2006/relationships/slide" Target="/ppt/slides/slide14.xml" Id="R4ea003c4f2c543f7" /><Relationship Type="http://schemas.openxmlformats.org/officeDocument/2006/relationships/slide" Target="/ppt/slides/slide15.xml" Id="R8ac1981be5be4447" /><Relationship Type="http://schemas.openxmlformats.org/officeDocument/2006/relationships/slide" Target="/ppt/slides/slide16.xml" Id="Rc5afea22a6164b34" /><Relationship Type="http://schemas.openxmlformats.org/officeDocument/2006/relationships/slide" Target="/ppt/slides/slide17.xml" Id="Rc55ec22ae4aa45ba" /><Relationship Type="http://schemas.openxmlformats.org/officeDocument/2006/relationships/slide" Target="/ppt/slides/slide18.xml" Id="Rabbd71550e5449e4" /><Relationship Type="http://schemas.openxmlformats.org/officeDocument/2006/relationships/slide" Target="/ppt/slides/slide19.xml" Id="Ra85d02f4232d49a9" /><Relationship Type="http://schemas.openxmlformats.org/officeDocument/2006/relationships/slide" Target="/ppt/slides/slide20.xml" Id="R450a967959b14ddf" /><Relationship Type="http://schemas.openxmlformats.org/officeDocument/2006/relationships/slide" Target="/ppt/slides/slide21.xml" Id="R9ecd339100f1463d" /><Relationship Type="http://schemas.openxmlformats.org/officeDocument/2006/relationships/slide" Target="/ppt/slides/slide22.xml" Id="Ra563aecca70b4312" /><Relationship Type="http://schemas.openxmlformats.org/officeDocument/2006/relationships/slide" Target="/ppt/slides/slide23.xml" Id="R7eccc9fe0c2b4dab" /><Relationship Type="http://schemas.openxmlformats.org/officeDocument/2006/relationships/slide" Target="/ppt/slides/slide24.xml" Id="R87e755ed996e41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86d4684a0040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211e661e484a66" /><Relationship Type="http://schemas.openxmlformats.org/officeDocument/2006/relationships/notesMaster" Target="/ppt/notesMasters/notesMaster1.xml" Id="R2668af7a66b643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dae49803cf477d" /><Relationship Type="http://schemas.openxmlformats.org/officeDocument/2006/relationships/notesMaster" Target="/ppt/notesMasters/notesMaster1.xml" Id="R7e339235183543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33f264feec423f" /><Relationship Type="http://schemas.openxmlformats.org/officeDocument/2006/relationships/notesMaster" Target="/ppt/notesMasters/notesMaster1.xml" Id="Rbb906f39fcf344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57808368074f41" /><Relationship Type="http://schemas.openxmlformats.org/officeDocument/2006/relationships/notesMaster" Target="/ppt/notesMasters/notesMaster1.xml" Id="R25bcebb7abff4a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ebd19bb9264b58" /><Relationship Type="http://schemas.openxmlformats.org/officeDocument/2006/relationships/notesMaster" Target="/ppt/notesMasters/notesMaster1.xml" Id="R24a24cee99c44f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95a345f8054fc0" /><Relationship Type="http://schemas.openxmlformats.org/officeDocument/2006/relationships/notesMaster" Target="/ppt/notesMasters/notesMaster1.xml" Id="Re6ad37b7f7ea41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774c64af6b409b" /><Relationship Type="http://schemas.openxmlformats.org/officeDocument/2006/relationships/notesMaster" Target="/ppt/notesMasters/notesMaster1.xml" Id="R2324318039c04e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c45b8ff7054eb5" /><Relationship Type="http://schemas.openxmlformats.org/officeDocument/2006/relationships/notesMaster" Target="/ppt/notesMasters/notesMaster1.xml" Id="R58cba6b3a96a45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c4a303a9c04bda" /><Relationship Type="http://schemas.openxmlformats.org/officeDocument/2006/relationships/notesMaster" Target="/ppt/notesMasters/notesMaster1.xml" Id="R09ffea3dc7f144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1c40739b054c1f" /><Relationship Type="http://schemas.openxmlformats.org/officeDocument/2006/relationships/notesMaster" Target="/ppt/notesMasters/notesMaster1.xml" Id="Rd36e7c8460bc44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0bb9686f624d32" /><Relationship Type="http://schemas.openxmlformats.org/officeDocument/2006/relationships/notesMaster" Target="/ppt/notesMasters/notesMaster1.xml" Id="R1546290ef3f949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735886f949440a" /><Relationship Type="http://schemas.openxmlformats.org/officeDocument/2006/relationships/notesMaster" Target="/ppt/notesMasters/notesMaster1.xml" Id="R3edc07fde6a547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93d366f86cd4320" /><Relationship Type="http://schemas.openxmlformats.org/officeDocument/2006/relationships/notesMaster" Target="/ppt/notesMasters/notesMaster1.xml" Id="Ra5b21aa2c75346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bf15e817855483a" /><Relationship Type="http://schemas.openxmlformats.org/officeDocument/2006/relationships/notesMaster" Target="/ppt/notesMasters/notesMaster1.xml" Id="R469af82a258d46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804e0a42d05414a" /><Relationship Type="http://schemas.openxmlformats.org/officeDocument/2006/relationships/notesMaster" Target="/ppt/notesMasters/notesMaster1.xml" Id="R13f5f2fe2ca54c8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decadec3c2450f" /><Relationship Type="http://schemas.openxmlformats.org/officeDocument/2006/relationships/notesMaster" Target="/ppt/notesMasters/notesMaster1.xml" Id="Rc7f32b704c574d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a4ecbf0ca264ee9" /><Relationship Type="http://schemas.openxmlformats.org/officeDocument/2006/relationships/notesMaster" Target="/ppt/notesMasters/notesMaster1.xml" Id="R8d19623ee04c4ab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dcc806056324f6a" /><Relationship Type="http://schemas.openxmlformats.org/officeDocument/2006/relationships/notesMaster" Target="/ppt/notesMasters/notesMaster1.xml" Id="R88f5daa8604d4a2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084c31a6fec41d2" /><Relationship Type="http://schemas.openxmlformats.org/officeDocument/2006/relationships/notesMaster" Target="/ppt/notesMasters/notesMaster1.xml" Id="R617339f9a3d846d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74541f14f1c4d99" /><Relationship Type="http://schemas.openxmlformats.org/officeDocument/2006/relationships/notesMaster" Target="/ppt/notesMasters/notesMaster1.xml" Id="Rd90c2ca0f242485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05aafc4e1634cd4" /><Relationship Type="http://schemas.openxmlformats.org/officeDocument/2006/relationships/notesMaster" Target="/ppt/notesMasters/notesMaster1.xml" Id="R3341c885becb42f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0df9c16ecd44467" /><Relationship Type="http://schemas.openxmlformats.org/officeDocument/2006/relationships/notesMaster" Target="/ppt/notesMasters/notesMaster1.xml" Id="Rbf62094c04424fc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9152a8b31354461" /><Relationship Type="http://schemas.openxmlformats.org/officeDocument/2006/relationships/notesMaster" Target="/ppt/notesMasters/notesMaster1.xml" Id="R3d9497ddb989422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5a671fc53514bd7" /><Relationship Type="http://schemas.openxmlformats.org/officeDocument/2006/relationships/notesMaster" Target="/ppt/notesMasters/notesMaster1.xml" Id="R9904ca19f5d948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93656d482a4d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2478c5b86f4ca7" /><Relationship Type="http://schemas.openxmlformats.org/officeDocument/2006/relationships/slideLayout" Target="/ppt/slideLayouts/slideLayout1.xml" Id="Rdcd71e8fa64d49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d71e8fa64d49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efb21bde74ec7" /><Relationship Type="http://schemas.openxmlformats.org/officeDocument/2006/relationships/notesSlide" Target="/ppt/notesSlides/notesSlide1.xml" Id="R0410bdf0b6fe41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735215a7044ee" /><Relationship Type="http://schemas.openxmlformats.org/officeDocument/2006/relationships/notesSlide" Target="/ppt/notesSlides/notesSlide2.xml" Id="Rf73e8b5d605345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30eac67904665" /><Relationship Type="http://schemas.openxmlformats.org/officeDocument/2006/relationships/notesSlide" Target="/ppt/notesSlides/notesSlide3.xml" Id="R889ec82a18654d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5ae7142734ede" /><Relationship Type="http://schemas.openxmlformats.org/officeDocument/2006/relationships/notesSlide" Target="/ppt/notesSlides/notesSlide4.xml" Id="R67082f88ff1d46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26cf2a6fb4a7f" /><Relationship Type="http://schemas.openxmlformats.org/officeDocument/2006/relationships/notesSlide" Target="/ppt/notesSlides/notesSlide5.xml" Id="R795a7993fc7a4e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9b900be534338" /><Relationship Type="http://schemas.openxmlformats.org/officeDocument/2006/relationships/notesSlide" Target="/ppt/notesSlides/notesSlide6.xml" Id="Ra5df920e481d4b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5c3d01f93458e" /><Relationship Type="http://schemas.openxmlformats.org/officeDocument/2006/relationships/notesSlide" Target="/ppt/notesSlides/notesSlide7.xml" Id="R14b3e567c17645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f3fecfd72449e" /><Relationship Type="http://schemas.openxmlformats.org/officeDocument/2006/relationships/notesSlide" Target="/ppt/notesSlides/notesSlide8.xml" Id="Rb63989b05b5949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b7842147c41a4" /><Relationship Type="http://schemas.openxmlformats.org/officeDocument/2006/relationships/notesSlide" Target="/ppt/notesSlides/notesSlide9.xml" Id="Ra83409d9d1c345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7380738d8407c" /><Relationship Type="http://schemas.openxmlformats.org/officeDocument/2006/relationships/notesSlide" Target="/ppt/notesSlides/notesSlide10.xml" Id="Rcc80d3c7db0640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69a3eea6743ae" /><Relationship Type="http://schemas.openxmlformats.org/officeDocument/2006/relationships/notesSlide" Target="/ppt/notesSlides/notesSlide11.xml" Id="Rba183f79ddc54d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b7d0725cf4084" /><Relationship Type="http://schemas.openxmlformats.org/officeDocument/2006/relationships/notesSlide" Target="/ppt/notesSlides/notesSlide12.xml" Id="R8314f368d6b14b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f686d8ce843ee" /><Relationship Type="http://schemas.openxmlformats.org/officeDocument/2006/relationships/notesSlide" Target="/ppt/notesSlides/notesSlide13.xml" Id="R6b5dca76998640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e05b038f340be" /><Relationship Type="http://schemas.openxmlformats.org/officeDocument/2006/relationships/notesSlide" Target="/ppt/notesSlides/notesSlide14.xml" Id="R24f501e62af2479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88cdc2eca4a7f" /><Relationship Type="http://schemas.openxmlformats.org/officeDocument/2006/relationships/notesSlide" Target="/ppt/notesSlides/notesSlide15.xml" Id="Rb3b312c44667475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e35f8101a4294" /><Relationship Type="http://schemas.openxmlformats.org/officeDocument/2006/relationships/notesSlide" Target="/ppt/notesSlides/notesSlide16.xml" Id="R9ac263dbf47246a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d60f2fb794b9a" /><Relationship Type="http://schemas.openxmlformats.org/officeDocument/2006/relationships/notesSlide" Target="/ppt/notesSlides/notesSlide17.xml" Id="Rcf8ed96471bc4e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159105ab9458c" /><Relationship Type="http://schemas.openxmlformats.org/officeDocument/2006/relationships/notesSlide" Target="/ppt/notesSlides/notesSlide18.xml" Id="R5340f3ca219f4de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42e44a65c4093" /><Relationship Type="http://schemas.openxmlformats.org/officeDocument/2006/relationships/notesSlide" Target="/ppt/notesSlides/notesSlide19.xml" Id="R5df713deae8e402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8584ad43c41ba" /><Relationship Type="http://schemas.openxmlformats.org/officeDocument/2006/relationships/notesSlide" Target="/ppt/notesSlides/notesSlide20.xml" Id="R03bd923380524b3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d5fa9134945f8" /><Relationship Type="http://schemas.openxmlformats.org/officeDocument/2006/relationships/notesSlide" Target="/ppt/notesSlides/notesSlide21.xml" Id="R8ed5261541e74d4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378b92dce4739" /><Relationship Type="http://schemas.openxmlformats.org/officeDocument/2006/relationships/notesSlide" Target="/ppt/notesSlides/notesSlide22.xml" Id="R8c77b792dbf24d0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f18e320e24eff" /><Relationship Type="http://schemas.openxmlformats.org/officeDocument/2006/relationships/notesSlide" Target="/ppt/notesSlides/notesSlide23.xml" Id="Ra58aed5a58b6492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7797260fa460e" /><Relationship Type="http://schemas.openxmlformats.org/officeDocument/2006/relationships/notesSlide" Target="/ppt/notesSlides/notesSlide24.xml" Id="Rde493800598f46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CCDB3A-DAE9-400C-82CD-77DA947B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93C5F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93C5FD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61691-7D5D-4947-AC07-3B54B96A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활용 필수 요구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이해하기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62DBD-9C98-4C35-886F-559A2656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RAG, MCP, Agent를 과제 구현 관점으로 연결하기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D811A-F378-4C94-B1CD-33BB805F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61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13989D-1072-4CC4-B694-D770F7AC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2E8F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2E8F0"/>
                </a:solidFill>
                <a:latin typeface="Malgun Gothic"/>
                <a:ea typeface="Malgun Gothic"/>
                <a:cs typeface="Malgun Gothic"/>
              </a:rPr>
              <a:t>오늘의 한 문장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DA9E1-7578-4CC0-803D-535EF0D5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5162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50" b="0">
                <a:solidFill>
                  <a:srgbClr val="FBBF24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FBBF24"/>
                </a:solidFill>
                <a:latin typeface="Malgun Gothic"/>
                <a:ea typeface="Malgun Gothic"/>
                <a:cs typeface="Malgun Gothic"/>
              </a:rPr>
              <a:t>RAG는 검색, MCP는 연결, Agent는 루프다.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875A3-FD5A-4D0B-9594-9FD8E4FB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38300"/>
            <a:ext cx="14287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145E3-327D-4328-A4AB-1562801C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04975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RAG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검색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CB0EC-7164-41FF-A770-DB3B7A55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38300"/>
            <a:ext cx="14287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18AD1-4F66-4382-AC97-A12A205C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04975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MCP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연결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CAF68-E99D-4906-8D0F-6A58B841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00400"/>
            <a:ext cx="14287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FFED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FC875-E928-4C22-9AD9-2EF818EB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67075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rPr>
              <a:t>Agent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rPr>
              <a:t>루프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7BCE3-28E6-40A8-AA4C-F597B0E9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2288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96C02-3E6F-479D-980A-44EE8EA9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288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1566DB-E6EF-467E-8E9E-9100AFE5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43450"/>
            <a:ext cx="3848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발표 중심은 서비스 소개가 아니라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AI 필수 요구의 구현 판단 기준입니다.</a:t>
            </a:r>
          </a:p>
        </p:txBody>
      </p:sp>
    </p:spTree>
    <p:extLst>
      <p:ext uri="{BB962C8B-B14F-4D97-AF65-F5344CB8AC3E}">
        <p14:creationId xmlns:p14="http://schemas.microsoft.com/office/powerpoint/2010/main" val="557067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204779-888A-4D76-B12E-4B786EBE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7584C-1BF1-409A-A9BC-4C7A105C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01CA8-6938-4D31-9826-4AFEB8C3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과제 요구 전체 지도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0E84F-D97B-4AE4-B29E-D0E8C0FB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73B48-A7FB-415B-BA83-C1404B68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기준: ProjectLens AI 파트 코어타임 설명초안 / OpenAI 공식 문서 / Notion 개념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3DDA7-162A-4A09-9AE4-73CCC764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10287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22152-A131-4CF4-AE71-65B4F0DA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86200"/>
            <a:ext cx="986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게시판 기본 요구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C4C8B5-8160-4FB8-BEFB-CE051C5F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9829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505"/>
          </a:bodyPr>
          <a:lstStyle xmlns:a="http://schemas.openxmlformats.org/drawingml/2006/main"/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CRUD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인증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댓글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검색/태그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페이지네이션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69436-4F03-4680-A1A1-A58BA365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9250"/>
            <a:ext cx="8953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EC013-111D-4CC1-ACE9-57B6E601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90700"/>
            <a:ext cx="853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AI 필수 요구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0DCB2-B0CD-4625-9EE3-8E13F19A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209800"/>
            <a:ext cx="8496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RAG: 내 데이터 검색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MCP: 외부 시스템 연결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Agent: 도구 선택 루프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1F4D3-7618-4FDF-A6A6-6CED3302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52450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기본 웹 서비스 위에 AI 실행 구조가 올라간다</a:t>
            </a:r>
          </a:p>
        </p:txBody>
      </p:sp>
    </p:spTree>
    <p:extLst>
      <p:ext uri="{BB962C8B-B14F-4D97-AF65-F5344CB8AC3E}">
        <p14:creationId xmlns:p14="http://schemas.microsoft.com/office/powerpoint/2010/main" val="10253794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263D1B-035D-4B2E-9DB4-036A70BB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0F63F-5004-4635-9937-3E0C74BF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12FF7-BE90-4ABD-94F4-48728A48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세 기술의 관계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231AF-7CF6-4B9A-874D-283A43B4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E3C5C-964E-43C9-9A73-57BD8885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기준: ProjectLens AI 파트 코어타임 설명초안 / OpenAI 공식 문서 / Notion 개념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DF46A-73B2-4D8B-9CEC-14742231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85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9F7B3-8992-40F9-800F-AD2C7BBD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36C21-51BD-405E-9AFA-7D66AD26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내부 데이터에서 의미적으로 가까운 근거를 찾는다.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C4119-127E-4D5E-94B2-176E071E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00250"/>
            <a:ext cx="285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E0228-5D7B-4B4D-B403-4A6293C7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717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MCP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8F462-0C7A-473C-8631-5799073A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외부 서비스와 도구를 AI가 호출 가능한 형태로 연결한다.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80327-8E2D-4D3B-B63E-6EFAD3AE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43050"/>
            <a:ext cx="3619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366DB-24E8-471C-8E1D-E30582FE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1450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rPr>
              <a:t>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94115-F32B-4D5A-B559-06E9B678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33600"/>
            <a:ext cx="31623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RAG와 MCP를 언제 쓸지 판단하고 결과를 보고 다시 판단한다.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9AC6DE-059F-4D91-BEC6-C405A539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815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Structured Output -&gt; DB -&gt; 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526CCA-4772-486B-8146-3149E848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431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3F255-1F56-4776-8776-8126EA62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4315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0ED2E2-FAF8-444E-836B-D9FB10E7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세 기술은 병렬 기능이 아니라 하나의 루프 안에서 협력한다.</a:t>
            </a:r>
          </a:p>
        </p:txBody>
      </p:sp>
    </p:spTree>
    <p:extLst>
      <p:ext uri="{BB962C8B-B14F-4D97-AF65-F5344CB8AC3E}">
        <p14:creationId xmlns:p14="http://schemas.microsoft.com/office/powerpoint/2010/main" val="8459503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4B638F-5720-4EAE-896F-018AE6DA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49BE2-6052-4488-926A-94929F54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79BD71-F00E-4000-8227-5F4DF30A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RAG 개념: 학습이 아니라 검색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AB437-5821-4835-BD39-1EBE7AA1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F67B8-F5A6-4FC1-9EAC-7BF8B7E1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기준: ProjectLens AI 파트 코어타임 설명초안 / OpenAI 공식 문서 / Notion 개념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AACD0-2CC8-4DC8-8894-B2A78A9A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FB9C5-58A0-407A-A096-93FB9CF7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핵심 설명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E1247-C79D-4F39-9AA3-37040099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8768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모델 파라미터를 바꾸는 학습이 아니다.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외부 저장소에서 관련 문서를 검색해 현재 질문의 context로 넣는다.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좋은 답변은 좋은 retrieval 품질에서 시작한다.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3688F-229B-4EBF-A4C7-C062A1BE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66850"/>
            <a:ext cx="51054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E4C383-9B82-4889-B2A3-A69CE699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383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발표에서 외울 문장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9E74D-A468-4BE0-8233-F915B27E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46482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RAG는 AI에게 데이터를 새로 학습시키는 것이 아니라, 필요한 순간에 검색해서 읽게 하는 방식입니다.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1F8B4-8F80-4FC7-9BA5-D64E4142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6650"/>
            <a:ext cx="51054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DE842-2180-486E-A8A2-E69FF39A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43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79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Notion 이미지 자리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505B3-13CB-4394-A1EC-D4F5FBB6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434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indexing -&gt; retrieval -&gt; generation</a:t>
            </a:r>
          </a:p>
        </p:txBody>
      </p:sp>
    </p:spTree>
    <p:extLst>
      <p:ext uri="{BB962C8B-B14F-4D97-AF65-F5344CB8AC3E}">
        <p14:creationId xmlns:p14="http://schemas.microsoft.com/office/powerpoint/2010/main" val="8525461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A681A9-39B3-448B-9314-0CB6C593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90CD1-10EE-4B5B-B980-4DFB0C6B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1036C-B787-4841-B65A-2F9EA2DD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RAG 구현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B0912-C254-4693-83FD-CB7AF82D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3B49D-88BF-4905-A19A-B14F37B7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기준: ProjectLens AI 파트 코어타임 설명초안 / OpenAI 공식 문서 / Notion 개념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9696C-1B5C-405D-A2B7-34BAACEE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2057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8F251-9F35-4679-BB85-16DCAB89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문서/DB 수집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FA7AA-3D65-4B0E-9674-75C61481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478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87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600FB-EC14-44EF-93E2-1F1706F2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38300"/>
            <a:ext cx="2057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E52F4-B86F-455D-81DC-719A9032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chunk 분리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9AF17-10AA-4B53-9A86-F8742D66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478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87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B572A-25D3-40A8-A32A-6F929F4F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38300"/>
            <a:ext cx="2057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D77F4-88AE-49A5-922F-ED823817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669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embedding 저장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D240E-2350-4688-8C80-905F1BCF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478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87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0D166-62DE-41AB-AD05-642D85A3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38300"/>
            <a:ext cx="2057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8B7936-483B-4B45-9EF7-017A7542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669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의미 검색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7742FD-B058-42A4-9ED6-2FF2D73C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478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87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63191D-BFAB-4348-A6F0-F175700D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38300"/>
            <a:ext cx="2057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A7CCF-5139-4EE2-9DAD-C9EC3E27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669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context 주입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A454F6-6C05-46A8-A7C3-18816074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0">
              <a:lnSpc>
                <a:spcPct val="114000"/>
              </a:lnSpc>
              <a:spcAft>
                <a:spcPts val="7"/>
              </a:spcAft>
              <a:buNone/>
              <a:defRPr sz="165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질문과 문서를 같은 embedding 체계로 변환한다.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7"/>
              </a:spcAft>
              <a:buNone/>
              <a:defRPr sz="165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vector DB에서 top-k와 threshold로 근거를 고른다.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7"/>
              </a:spcAft>
              <a:buNone/>
              <a:defRPr sz="165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검색 결과는 출처와 점수를 함께 남긴다.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A383B9-5055-42FD-8EA4-CB222F1A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00650"/>
            <a:ext cx="8763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5E8AC3-0852-46F2-97AF-8D27E247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372100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구현 감각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8A370D-A973-4603-A6CD-602E558E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791200"/>
            <a:ext cx="8305800" cy="-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검색 또는 도구 호출 결과는 최종 답변이 아니라 Agent가 판단할 근거입니다.</a:t>
            </a:r>
          </a:p>
        </p:txBody>
      </p:sp>
    </p:spTree>
    <p:extLst>
      <p:ext uri="{BB962C8B-B14F-4D97-AF65-F5344CB8AC3E}">
        <p14:creationId xmlns:p14="http://schemas.microsoft.com/office/powerpoint/2010/main" val="15752513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6F1EF6-80A1-48BF-A4B3-7C4405BE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259AE-4CDE-4209-9B11-91BC0157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27458-0964-498A-B2CA-AEE7008D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RAG 구현 판단과 피할 방식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C04D6-50B9-459B-8557-89896DE9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2B109-FE7D-4ACF-AC70-16467F65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기준: ProjectLens AI 파트 코어타임 설명초안 / OpenAI 공식 문서 / Notion 개념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496DA-D97F-4F21-963C-123197C5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191125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60951-9EC8-4654-A2F5-E4780424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477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결정할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5CBDC-5B7F-444F-B6AC-B5F8D80F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4733925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데이터 소스와 저장 단위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chunk 크기와 overlap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embedding 모델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vector DB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top-k / threshold / 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0FC22-AE42-4FC2-BC3A-478A132C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428750"/>
            <a:ext cx="5191125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97B0C-D5E2-455C-BF79-5221F03C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00200"/>
            <a:ext cx="477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피할 방식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011E4-4BDA-4260-A4C5-5F0A8208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19300"/>
            <a:ext cx="4733925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모든 문서를 프롬프트에 붙이기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SQL LIKE만 쓰고 의미 검색이라고 설명하기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낮은 관련도도 억지로 사용하기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source와 score를 숨기기</a:t>
            </a:r>
          </a:p>
        </p:txBody>
      </p:sp>
    </p:spTree>
    <p:extLst>
      <p:ext uri="{BB962C8B-B14F-4D97-AF65-F5344CB8AC3E}">
        <p14:creationId xmlns:p14="http://schemas.microsoft.com/office/powerpoint/2010/main" val="3125209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FF6088-2AA1-4E8F-8B5B-B8F9841F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C1396-7789-4694-B5B6-BE972231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4F615-F417-472A-9404-FF6993DD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RAG 코드 읽기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44E5A-59B7-4746-A3CC-6334DB38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154CD-98BD-4389-B838-E8988FC7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기준: ProjectLens AI 파트 코어타임 설명초안 / OpenAI 공식 문서 / Notion 개념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4F7F1-0B9E-4E0A-A866-8574FF92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14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330B9-4CBB-40A6-A345-4F618713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익숙한 검색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E8A17-DC45-423C-9E4B-94A8F608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46863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064B1-8EFC-46C5-9A3C-98B46D258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143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ED0CF-1DA5-49BC-BE00-215E7B5E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762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SELECT * FROM posts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WHERE title LIKE '%환불%';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146E27-6CC3-4C99-8C73-A4CCC0D2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514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642E1-EBD2-4028-ADF7-FDD2DA8C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RAG 검색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BFDC5-4F6B-4799-A20D-9FC2B647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19300"/>
            <a:ext cx="46863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7F3414-54A6-40EB-BCAA-245AFD5B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5143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44E0D-39A0-4B46-96D2-65100FEB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38400"/>
            <a:ext cx="4762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distance = Embedding.embedding.cosine_distance(query_vector)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stmt = stmt.order_by(distance).limit(limit)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F1FAC-FE60-44FA-9708-495E9408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0100"/>
            <a:ext cx="8953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24EE8E-0C90-4235-8409-CCCD75F2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81550"/>
            <a:ext cx="853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읽는 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E953E9-4B3B-4A31-8975-E6668B60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00650"/>
            <a:ext cx="849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90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둘 다 DB에서 찾지만, LIKE는 문자열 일치이고 RAG는 embedding vector의 의미적 거리 검색입니다.</a:t>
            </a:r>
          </a:p>
        </p:txBody>
      </p:sp>
    </p:spTree>
    <p:extLst>
      <p:ext uri="{BB962C8B-B14F-4D97-AF65-F5344CB8AC3E}">
        <p14:creationId xmlns:p14="http://schemas.microsoft.com/office/powerpoint/2010/main" val="17275615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30A45B-BF72-4C12-AA5F-CC88A04A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BD9F7-88C7-4F11-9677-02F9CEC8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D8A4F-507C-465D-AEA1-C4746420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MCP 개념: AI용 연결 규격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694E0-B4C9-4309-B528-C5126E50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BB3B8-3662-40F4-8A90-D8C32325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기준: ProjectLens AI 파트 코어타임 설명초안 / OpenAI 공식 문서 / Notion 개념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ACDF4-2F7A-415E-AA23-2B306426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40614-70B7-496C-AA76-5C9FB329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핵심 설명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3DA8C-818E-49AF-A886-A3A1DE0E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8768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MCP는 API를 없애는 기술이 아니다.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외부 API, DB, 파일, 서비스를 AI가 쓰기 좋은 tool 형태로 감싼다.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Host와 Client가 통제하고 Server가 실제 외부 작업을 실행한다.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1E86B-1E0D-4D42-999F-4A7FB80B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66850"/>
            <a:ext cx="51054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AE39B-DF68-472A-AC1B-1894AAAA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383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발표에서 외울 문장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BDA24-4119-481A-9294-41331A4B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46482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MCP는 AI 앱과 외부 도구를 연결하는 공통 포트, 즉 AI 앱의 USB-C처럼 이해하면 쉽습니다.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86F80-5EE6-4A42-97E9-65AA86F7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6650"/>
            <a:ext cx="51054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59BFEC-115B-4263-9D80-0167FF1E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43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79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Notion 이미지 자리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4C997-22FE-46BE-9947-3D523B6C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434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USB-C 비유 / Host-Client-Server</a:t>
            </a:r>
          </a:p>
        </p:txBody>
      </p:sp>
    </p:spTree>
    <p:extLst>
      <p:ext uri="{BB962C8B-B14F-4D97-AF65-F5344CB8AC3E}">
        <p14:creationId xmlns:p14="http://schemas.microsoft.com/office/powerpoint/2010/main" val="20967915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416128-5CD9-4321-B7D3-796D1D2C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18808-B4D2-4038-9E97-B4411BE5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11BB1-1097-43AB-B267-B4D7D0CF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MCP 구조: Host / Client / Server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E8DC7-E1E0-4541-A54B-DE2D7EC1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77EBA-3E9D-45C9-ABBA-9B50F5DD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기준: ProjectLens AI 파트 코어타임 설명초안 / OpenAI 공식 문서 / Notion 개념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BE930-A5B1-407D-8D8C-20EA678D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2057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5DF08-9807-4731-BE25-59B4B8A8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3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LLM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12DC9-95AF-4FA6-BE54-43F50DF5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478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87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6A61C-9C02-450A-B1AD-585DDECC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38300"/>
            <a:ext cx="2057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4571A-99A0-45E8-9947-80A88A08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3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Host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권한/context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C81BBA-61B7-4CE9-A257-BB5ECB65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478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87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E278B-DE62-42F8-8243-A1DA8C8D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38300"/>
            <a:ext cx="2057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4DF31-444E-452B-AC30-099BEEB3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669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3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Client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JSON-RPC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40DE8-ECE5-4886-82E7-F8DE1EA2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478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87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EEC6C3-3F7E-432F-A14F-C0BA2B40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38300"/>
            <a:ext cx="2057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97A97F-E363-44D2-88BB-89B182BB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669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3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Server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tool 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2D519-ABC5-4B9D-BCEB-265AF3AA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478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87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247203-E6A8-4365-B4A8-8B23C136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38300"/>
            <a:ext cx="2057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960978-D2F7-4883-A01C-006DB2B8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669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외부 서비스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B8F8C1-536B-429B-82BC-320910F4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933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0">
              <a:lnSpc>
                <a:spcPct val="114000"/>
              </a:lnSpc>
              <a:spcAft>
                <a:spcPts val="7"/>
              </a:spcAft>
              <a:buNone/>
              <a:defRPr sz="165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LLM은 tool_name과 arguments를 만들지만 직접 실행하지 않는다.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7"/>
              </a:spcAft>
              <a:buNone/>
              <a:defRPr sz="165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MCP Server 내부에서는 여전히 REST API, DB, 파일 시스템을 호출할 수 있다.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7"/>
              </a:spcAft>
              <a:buNone/>
              <a:defRPr sz="165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외부 결과는 instruction이 아니라 evidence로 취급한다.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5DB7AC-CBAD-4D13-A8E3-0226844D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00650"/>
            <a:ext cx="8763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B0AC1F-FDEE-45E4-81D6-FE05B94E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372100"/>
            <a:ext cx="834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구현 감각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56E93E-6F99-480D-866A-8941689F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791200"/>
            <a:ext cx="8305800" cy="-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검색 또는 도구 호출 결과는 최종 답변이 아니라 Agent가 판단할 근거입니다.</a:t>
            </a:r>
          </a:p>
        </p:txBody>
      </p:sp>
    </p:spTree>
    <p:extLst>
      <p:ext uri="{BB962C8B-B14F-4D97-AF65-F5344CB8AC3E}">
        <p14:creationId xmlns:p14="http://schemas.microsoft.com/office/powerpoint/2010/main" val="6388709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460982-30F9-44D2-A758-BAD31535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0DA71-678B-4F38-A8BE-FDD2E669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AAF0D-1897-46AA-9EBF-BF7948CC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MCP 구현 판단과 피할 방식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06B59-B510-4C72-8866-B6BC587E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B4F05-EB31-4379-A3E1-620E2810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기준: ProjectLens AI 파트 코어타임 설명초안 / OpenAI 공식 문서 / Notion 개념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39F37-061F-4587-A80B-AA1026E8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191125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658EEE-F898-46F1-89A8-BB4B6730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477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결정할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291F9-A1AE-4758-B0D5-6E782EDD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4733925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MCP Server 기능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tool schema 입력/출력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JSON-RPC 호출 흐름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외부 서비스 1개 이상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권한, allowlist, 보안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3AAD3-44A1-4B8D-BAFB-7C477F93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428750"/>
            <a:ext cx="5191125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97BA0-BFD6-4CA4-8042-2D41203B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00200"/>
            <a:ext cx="477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피할 방식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86DD3-5B9C-47A3-A389-226AC907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19300"/>
            <a:ext cx="4733925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그냥 API 호출 후 MCP라고 부르기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call_api 같은 범용 tool 하나만 두기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API key를 tool output에 포함하기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외부 텍스트를 instruction처럼 따르기</a:t>
            </a:r>
          </a:p>
        </p:txBody>
      </p:sp>
    </p:spTree>
    <p:extLst>
      <p:ext uri="{BB962C8B-B14F-4D97-AF65-F5344CB8AC3E}">
        <p14:creationId xmlns:p14="http://schemas.microsoft.com/office/powerpoint/2010/main" val="6030305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67F6CE-9A00-4A2D-A686-6194B8BF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ED7FE-D2DC-4148-A28D-61C7D49F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58D72-30CE-4E2A-A19A-2204DC7F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MCP 코드 읽기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5841D-7E8F-47D2-A3BD-6DA85B67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CF39F-EEA3-451A-B2D3-1D66850E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기준: ProjectLens AI 파트 코어타임 설명초안 / OpenAI 공식 문서 / Notion 개념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BBEA9-F909-43FF-B4E4-FB87954C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14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DBD1C-FE5C-4AEA-801B-36B4D468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익숙한 REST wrapper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BEFEE-5169-4631-9C20-4430DFCF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46863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04036-F168-462A-9CB7-757C6CA1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143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276EF-A557-47F2-A189-B8C116C0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762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@router.get('/github/readme')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 def readme(github_url: str):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return await fetch_github_readme(github_url)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DBFEA-6961-4C19-99C3-8A9D5889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514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7EF25-F11E-4F8F-8CBF-01841A39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MCP tool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71D227-75FC-4639-ADFE-F991ABE6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19300"/>
            <a:ext cx="46863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B136B-ABDB-4A82-855F-08910384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5143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16D36D-578D-4123-B5B3-00ECB8FF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38400"/>
            <a:ext cx="4762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@mcp.tool()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async def fetch_github_readme(github_url: str) -&gt; dict[str, Any]: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return await fetch_github_readme_tool(github_url)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E8B61-805E-4245-A25E-8D5567EA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0100"/>
            <a:ext cx="8953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998DAD-9CD5-442A-8462-D5B1DC62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81550"/>
            <a:ext cx="853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읽는 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83D14-EB97-4255-9C52-53E6B851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00650"/>
            <a:ext cx="849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90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둘 다 외부 서비스를 호출하지만, MCP tool은 Agent/Host가 tool 목록과 schema를 보고 호출할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6360624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D706C7-53B9-44BD-8E8F-2D478093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AD3DF-BFD9-4719-971D-C5EFB690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E1556-3E8B-40E3-8F83-2B8ADECA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Agent 개념: 단일 호출이 아니라 루프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F9BEF-77E8-4EAD-888F-0CF1252C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57418-C663-4C9D-94AD-0F1E4DB6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기준: ProjectLens AI 파트 코어타임 설명초안 / OpenAI 공식 문서 / Notion 개념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D8517-588A-4E9E-8F2F-37AFBE28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334000" cy="30289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BA798-0E2E-40B3-B1D4-73005B05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rPr>
              <a:t>핵심 설명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3712A-4AA8-4F45-AAEB-7848295C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8768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Agent는 프롬프트 한 번으로 답변 받는 것이 아니다.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목표, 모델, 도구, 상태, 실행 구조를 묶은 시스템이다.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핵심 작동 방식은 생각 -&gt; 행동 -&gt; 관찰 -&gt; 다시 판단이다.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4FA59-C9DF-4F11-A8D3-87629E99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66850"/>
            <a:ext cx="51054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FFEDD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05FE3-9F69-409A-BE47-3B0F1B30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383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rPr>
              <a:t>발표에서 외울 문장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FC091A-434F-4DA5-806F-A530B384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46482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Agent의 핵심은 tool 실행 결과를 관찰하고 다시 판단하는 루프입니다.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F315F-1BFC-4F25-94FA-E317B6B7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6650"/>
            <a:ext cx="51054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052EFE-3202-4FDF-9DDE-32E97C1E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43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79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rPr>
              <a:t>Notion 이미지 자리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76DFD-61F5-4F8B-A96C-C09C9AB3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434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Model + Tools + Orchestration Layer</a:t>
            </a:r>
          </a:p>
        </p:txBody>
      </p:sp>
    </p:spTree>
    <p:extLst>
      <p:ext uri="{BB962C8B-B14F-4D97-AF65-F5344CB8AC3E}">
        <p14:creationId xmlns:p14="http://schemas.microsoft.com/office/powerpoint/2010/main" val="5454975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B09723-0A2A-4DF3-A72B-6E2D5F46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D8CFA-CADB-4C21-9C91-0C08F3D2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E3D1C-8009-49D0-9EC8-AE78BF91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Agent 루프 핵심 다이어그램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4FCAB-4B9A-49F8-A200-E768018E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5836D-F5B8-42EE-B9A0-59865D0A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기준: ProjectLens AI 파트 코어타임 설명초안 / OpenAI 공식 문서 / Notion 개념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49910-DB64-47FE-9726-E5542E3E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2057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CF039-83E4-4D7E-BC40-D10625C4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상태 생성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74DEA-C41C-4369-AC01-42D12E8F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8097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87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031C50-0AF5-4EFB-B49B-E660A77E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00200"/>
            <a:ext cx="2057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43B95-1164-4630-B675-13F05A06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288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rPr>
              <a:t>Agent 판단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4CD05-4322-4ED7-9EBE-ADAA44D9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097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87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E291B-91C4-4E1C-9D96-242CA83F6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00200"/>
            <a:ext cx="2057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9987C-661A-400D-9C2B-07FF4BA7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288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도구 호출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89CD3-D0AA-4967-93BF-B5AD7FF3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097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87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C7D6F-30D9-40F3-9CCD-88E961A0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00200"/>
            <a:ext cx="2057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C8237-66BB-404B-9AAC-71A45794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288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실행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FD52DF-3581-418D-A9DA-FB4ACAB3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87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66CCA5-7AE4-44E6-B541-F6F55D47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00200"/>
            <a:ext cx="2057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82A12E-6ECD-4EF0-A231-393E45C1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288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rPr>
              <a:t>관찰 결과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1C0E51-3CE0-4F0B-A94D-3CA1C17A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76600"/>
            <a:ext cx="6096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82AD0B-9DF9-47CC-BE2F-58EA852C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0045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43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rPr>
              <a:t>Observation -&gt; Agent 판단으로 되돌아가는 화살표가 핵심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888007-49FC-4EB9-84E3-AA4AA115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57750"/>
            <a:ext cx="7353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단일 LLM 호출은 한 번 답하고 끝나지만,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Agent는 도구 실행 결과를 보고 다시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18830887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384FD7-8C79-4F9B-B12C-2ACD9BF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E6827-A934-466E-AA07-08CE5016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3DB08-0C8E-4885-A64E-0AE260AB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Agent 구현 판단과 피할 방식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65E22-D527-4776-B2E6-F7F94C44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23112-721C-47BA-900E-99725155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기준: ProjectLens AI 파트 코어타임 설명초안 / OpenAI 공식 문서 / Notion 개념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A015A-F0BB-4079-8611-72757F42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191125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E3F29-E27A-4212-B148-F7ABD2BB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477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결정할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D5F55-EFB9-43F0-8268-756CB8EE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4733925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function calling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state와 memory 범위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max turns / timeout / retry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failed / need_more_info / refused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Structured Outputs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EF3FB9-64C0-436D-A27D-CA68F280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428750"/>
            <a:ext cx="5191125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42A16-9457-4D87-8C7C-FB38AF86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00200"/>
            <a:ext cx="477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피할 방식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5CBA0-79FC-4E55-9C3D-00D0C772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019300"/>
            <a:ext cx="4733925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LLM 호출 한 번으로 Agent라고 부르기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상태를 저장하지 않기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모든 tool을 무조건 호출하기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자유 텍스트만 반환하기</a:t>
            </a:r>
          </a:p>
        </p:txBody>
      </p:sp>
    </p:spTree>
    <p:extLst>
      <p:ext uri="{BB962C8B-B14F-4D97-AF65-F5344CB8AC3E}">
        <p14:creationId xmlns:p14="http://schemas.microsoft.com/office/powerpoint/2010/main" val="14825733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7046EC-A89C-4CE3-984D-4E5D12E3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1F613-B631-494A-8554-0C48F752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FBD37-508C-4B9F-B96A-79DAED88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Agent 코드 읽기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FE75D-9F57-4837-BF52-BEE4BC6F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69CD3-3EC9-4F87-8571-DEEFBA2F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기준: ProjectLens AI 파트 코어타임 설명초안 / OpenAI 공식 문서 / Notion 개념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2573A-ADBA-4826-8E4F-49F607A2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14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6B347-9E3D-4C20-AEAA-9A355BB9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일반 service orchestration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B9AED-D5B4-4BCB-881B-4891802B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46863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29F16-1EE3-49C6-A762-B12D942C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143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FFB75-029A-4B83-9785-F05D7B9A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762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post = await load_post(post_id)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evidence = await fetch_evidence(post)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report = build_report(post, evidence)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await save_report(report)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31F9A-3906-448C-882B-7766A27B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514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A3517-5953-48B0-8E5F-45048E08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Agent 구조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41889-FD2C-4579-8807-FAC3F897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19300"/>
            <a:ext cx="46863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4B68B-1154-4F91-953D-2B029E27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5143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5CAB0E-BD13-415D-AB07-BCBAF3CE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38400"/>
            <a:ext cx="4762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Agent(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instructions=PROJECT_ANALYSIS_INSTRUCTIONS,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tools=analysis_tools,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model=settings.agent_model,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output_type=ProjectAnalysisReport,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FF47B1-5FD3-4222-95CC-80BD54AA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0100"/>
            <a:ext cx="8953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36E901-1036-4934-8413-A36DEBC0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81550"/>
            <a:ext cx="853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읽는 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A141B4-2451-42FC-A76C-192D71A3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00650"/>
            <a:ext cx="849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90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일반 service는 순서를 고정하지만, Agent는 tool 사용 여부와 arguments를 모델이 제안하고 backend가 실행을 통제합니다.</a:t>
            </a:r>
          </a:p>
        </p:txBody>
      </p:sp>
    </p:spTree>
    <p:extLst>
      <p:ext uri="{BB962C8B-B14F-4D97-AF65-F5344CB8AC3E}">
        <p14:creationId xmlns:p14="http://schemas.microsoft.com/office/powerpoint/2010/main" val="16207264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242EED-DBB1-4799-B720-F329695D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2A407-0DE2-413D-BC90-888AED18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7566A-1C3D-4C50-A1D6-D08D295B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통합 흐름: RAG와 MCP는 Agent 루프 안에 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4EC15-CEEF-4F25-BED6-53C7F093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7A40D-3A6A-4E64-B7B3-8D38D8CA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기준: ProjectLens AI 파트 코어타임 설명초안 / OpenAI 공식 문서 / Notion 개념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392C3-0B80-424E-BC9B-E741075C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6098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9F4D4-BDB2-44BA-B254-29D73DA4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사용자 요청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49A14-6FB3-4E8A-83B8-03206D0E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335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87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08F7E-BF8F-43DB-975E-C62F6ED3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24000"/>
            <a:ext cx="26098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6F4F5-A251-4E61-9B80-8D1F669F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5260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상태 생성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AEA7C-1C3F-4303-9AFA-ED4A8617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335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87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BCA46-12A3-4549-9859-95ED7E63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26098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37FB9F-E947-4E2C-A473-363077AC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RAG 검색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C4E50-3947-419A-A5E6-10FEEC52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3355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87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2A508-C10F-4348-8024-8898AE36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24000"/>
            <a:ext cx="26098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8AA7F5-5788-4315-9D8B-28288BC4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5260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rPr>
              <a:t>Agent 판단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52A85-F274-40E7-824A-CA04A638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6098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D6984E-3F89-4BF1-8D9E-32E7A1BC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28975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rPr>
              <a:t>tool call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AA53A5-E782-4BDD-99A0-690F9C9F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0992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87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BF4F78-2839-44F8-9A8A-66932058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00375"/>
            <a:ext cx="26098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F6E86-6404-45CD-A7AF-ACF85DE1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28975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MCP 호출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C33E90-B50F-4DE9-846E-E5548A32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0992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87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C0DF3-BB8D-445A-A2AC-E1A7CD70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00375"/>
            <a:ext cx="26098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F8C03A-A91B-48A7-BAEE-D132F2AA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28975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92400E"/>
                </a:solidFill>
                <a:latin typeface="Malgun Gothic"/>
                <a:ea typeface="Malgun Gothic"/>
                <a:cs typeface="Malgun Gothic"/>
              </a:rPr>
              <a:t>observation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AC5795-D82F-4E3E-9048-98F6AAAC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09925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87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C66566-D525-4153-B4FE-D65BBE8D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0375"/>
            <a:ext cx="26098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EB511B-AEF5-4DDE-9867-CA38EA86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28975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rPr>
              <a:t>재판단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3ABDA5-4961-41C9-A5FA-C1FCA17E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6098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7E22C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13C4B1-D05F-42D6-A741-C61AFF54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6B21A8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B21A8"/>
                </a:solidFill>
                <a:latin typeface="Malgun Gothic"/>
                <a:ea typeface="Malgun Gothic"/>
                <a:cs typeface="Malgun Gothic"/>
              </a:rPr>
              <a:t>Structured Output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3A5569-602E-4AF1-B3D0-C292B184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6863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87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BC4417-A201-4530-A4F2-B2B70F28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76750"/>
            <a:ext cx="26098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9D06A9-DE4E-41C9-A673-6AC0CDD8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0535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DB 저장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A6115C-913B-468A-9414-EB0EACB9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863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87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F89FED-E08F-4094-AE69-ED13303B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76750"/>
            <a:ext cx="26098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CF719B-5E53-4712-BD1B-B43552D3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0535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Frontend polling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3AA1A3-3DC2-4DB5-8C0E-94F4870E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86300"/>
            <a:ext cx="28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87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D8A257-E9A5-45B9-A3EC-815F2EE7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76750"/>
            <a:ext cx="26098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43A4D7-3FE4-49DC-AE34-A94F3D90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05350"/>
            <a:ext cx="2419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카드 UI</a:t>
            </a:r>
          </a:p>
        </p:txBody>
      </p:sp>
    </p:spTree>
    <p:extLst>
      <p:ext uri="{BB962C8B-B14F-4D97-AF65-F5344CB8AC3E}">
        <p14:creationId xmlns:p14="http://schemas.microsoft.com/office/powerpoint/2010/main" val="19586031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2387D0-425C-48C1-8B24-FBBCDA2F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47223-703E-4B47-9436-38E836AE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3EF3E-3527-4C24-8972-5BAF55B8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ProjectLens 예시 라벨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9496B-F4DE-4A1F-8A36-02540024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D66CF-09E0-45D6-B327-712A74AB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기준: ProjectLens AI 파트 코어타임 설명초안 / OpenAI 공식 문서 / Notion 개념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CF9BD-2A79-4B0A-9E7D-511BC5CF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3429000" cy="4095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55CA2-BA26-4640-BD10-170A7813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002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일반 흐름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F8D07-DECD-40CE-AEDB-C63477C9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297180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사용자 요청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상태 생성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RAG 검색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MCP 호출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최종 output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DB/UI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07CE8-2FCD-48C9-B355-F89A386D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8750"/>
            <a:ext cx="62865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CD020-9C89-4E59-9746-8F969B26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00200"/>
            <a:ext cx="586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ProjectLens 예시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6161E-E326-4942-B724-93CE1122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19300"/>
            <a:ext cx="582930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게시글 상세의 AI 분석 버튼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posts.analysis_status + analysis job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embedding 기반 유사 프로젝트 검색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local/private MCP Server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Pydantic Structured Outputs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ai_reports / mcp_evidences / 분석 카드</a:t>
            </a:r>
          </a:p>
        </p:txBody>
      </p:sp>
    </p:spTree>
    <p:extLst>
      <p:ext uri="{BB962C8B-B14F-4D97-AF65-F5344CB8AC3E}">
        <p14:creationId xmlns:p14="http://schemas.microsoft.com/office/powerpoint/2010/main" val="142087746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79FDEA-CF88-4D79-A516-74EA9444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E0C59-53C0-4526-97A7-220BF3B3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610E9-BAB7-4260-8DFA-A236DDAA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Frontend 코드 읽기: polling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5BFE8-A285-4292-AFB7-2854782D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A2A71B-7A64-4BE5-A921-1A8A5EC7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기준: ProjectLens AI 파트 코어타임 설명초안 / OpenAI 공식 문서 / Notion 개념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C2D43-EF80-4598-A28E-05B74DE0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14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5D816-914F-453E-944D-02B5FFCF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일반 API 렌더링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2FB50-01D5-49AC-A9FD-DB51A18F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46863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40023-6CEF-48A6-AFE3-8C0AAF49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143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7A759B-DB5F-4263-A71A-15039379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762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const data = await fetchPost(postId);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setPost(data);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DC501-9187-4B3B-9D93-906ACD3C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514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D2A6C-0BAC-4E83-8688-B9A650B3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AI 분석 polling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2FFED-79AB-4FD6-96F7-8669B0BD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19300"/>
            <a:ext cx="4686300" cy="7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A18129-DDF6-49F9-8CE1-211F6D69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51435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020617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E41E4-2FA1-48F0-9A5A-A268D62A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38400"/>
            <a:ext cx="4762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const job = await startAnalysisJob(postId);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2E8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pollAnalysisStatus(postId);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3EE65-6AAC-410C-9432-84D9304D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0100"/>
            <a:ext cx="8953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F9340-A894-4C7A-8EE1-FF9CC04E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81550"/>
            <a:ext cx="853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읽는 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0753E-2AAD-461A-A4BC-A2BB4BA4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00650"/>
            <a:ext cx="849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90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AI 분석은 오래 걸릴 수 있어 running -&gt; completed/failed 상태를 polling하고, 결과는 카드 UI가 읽을 수 있는 구조화 데이터입니다.</a:t>
            </a:r>
          </a:p>
        </p:txBody>
      </p:sp>
    </p:spTree>
    <p:extLst>
      <p:ext uri="{BB962C8B-B14F-4D97-AF65-F5344CB8AC3E}">
        <p14:creationId xmlns:p14="http://schemas.microsoft.com/office/powerpoint/2010/main" val="2342982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CA629D-530A-4797-982F-218E9BD7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DA9E6-2AA5-4416-87A5-AA41EF17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9D772-E35E-4D0F-93BA-507F804A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RAG 개선 과정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114F3-9F95-45EA-94A8-10F7CCD5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3FD69-6C47-4850-8E35-06C425F5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기준: ProjectLens AI 파트 코어타임 설명초안 / OpenAI 공식 문서 / Notion 개념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75C65-B240-40D9-9660-616D0EED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3143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6BD94-C85A-4B56-AEA3-7AEF02EE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383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검색 결과가 엉뚱함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681E4-2B86-4218-B62E-34D6E96D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8115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2D25A-6D45-4112-96E2-79DB548A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66850"/>
            <a:ext cx="6572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69461-46E6-42BA-827B-9D9B3536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28775"/>
            <a:ext cx="611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chunk, metadata, embedding 입력 텍스트 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30097-2311-41DC-93CD-A8D4E2B1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3143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00F16-E3F0-4BBC-A2FD-1AF9A09A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관련 없는 문서가 섞임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CDCCA-235C-46C0-A93A-E6D27D92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03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51F42-0FF4-4FDE-B86F-D415EA27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86000"/>
            <a:ext cx="6572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817FF2-845D-4E75-BA24-C613E779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47925"/>
            <a:ext cx="611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top-k와 similarity threshold 조정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CF046E-B06A-404C-82B6-FC41433E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3143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59290-ED67-4CB8-8849-D6B2960F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근거가 빈약함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924640-CA4E-43B2-BB9B-25892D78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FBBC34-3086-4C9C-81BE-7868A8BD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6572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EF7AB9-2FF8-41A1-B421-57390371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67075"/>
            <a:ext cx="611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source title, URL, 작성일, score 표시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3D3470-FF29-43E7-A4BE-930DCAE6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3143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79864D-B595-498D-ADED-F292AF9E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데이터가 충분함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4CF304-F4CA-4AE7-BEE9-106AA504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386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5D4DE9-BA81-4000-A7E6-58C458AF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24300"/>
            <a:ext cx="6572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9B8BAD-E7C0-43C3-97BC-9F9C1812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86225"/>
            <a:ext cx="611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semantic score 외 태그/최신성/유형 ranking signal 추가</a:t>
            </a:r>
          </a:p>
        </p:txBody>
      </p:sp>
    </p:spTree>
    <p:extLst>
      <p:ext uri="{BB962C8B-B14F-4D97-AF65-F5344CB8AC3E}">
        <p14:creationId xmlns:p14="http://schemas.microsoft.com/office/powerpoint/2010/main" val="203236563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8F4D54-3D44-4A30-BF01-180030B4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E4ECA-A403-4C53-8A4B-264F43AB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BD35F-5EB6-4957-AEB1-1538A9A5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Agent 루프 개선 과정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A0D8F-0A38-477E-9587-0AD149D3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C6E91-1B38-4B39-B674-D7A02BBA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기준: ProjectLens AI 파트 코어타임 설명초안 / OpenAI 공식 문서 / Notion 개념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8C64F-61D3-4E5E-94B8-D8586AFD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3143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1866D-6EA0-4E62-BBBF-7E75606C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383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rPr>
              <a:t>tool을 잘못 고름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8DF20-4205-43D7-A853-864CCC2F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8115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4DFE5-773B-498D-93BF-81B94D3E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66850"/>
            <a:ext cx="6572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19550-679D-4FEC-BF1B-21F306F1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28775"/>
            <a:ext cx="611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tool name, description, input schema 개선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6D0DD-2747-48E3-A03B-98FC08FB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3143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BA672-760E-4763-84D2-222ECF950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rPr>
              <a:t>같은 tool 반복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B98EA-031B-4F80-B1F5-DBAD1923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03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1F299A-0B1C-4EB6-94D4-21A52330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86000"/>
            <a:ext cx="6572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9C794-6A8F-4EAC-A059-4F1734EB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47925"/>
            <a:ext cx="611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max turns, retry limit, 중복 호출 방지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CACF2-73B0-49C5-9021-77BD3305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3143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9E3FD-5E15-4508-AA45-35BD3BCE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rPr>
              <a:t>실패 이유 불명확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FEA7D6-15A8-458C-A2BA-8791DDD7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9182B0-68E0-4225-AD90-B00BBEFB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6572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051091-9BDC-4DAD-B280-0AF7C0D9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67075"/>
            <a:ext cx="611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tool error와 status 저장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4F5182-E5FB-48A6-B74A-E0738AA9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3143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CB7799-5F98-40F0-ACE6-7AF51BC7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rPr>
              <a:t>응답 형식 흔들림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4BC377-CDD6-4B81-99F7-D9EF2C16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386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BCFEC3-E94A-4EFA-9ED1-A05E53F0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24300"/>
            <a:ext cx="6572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E8A6DC-D9D5-4419-8069-9FC509E6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86225"/>
            <a:ext cx="611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structured output schema 강제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D2DC1D-7489-49E0-8F01-79DB916E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3143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AD2EB4-935C-49D2-9BD4-F728A753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149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A580C"/>
                </a:solidFill>
                <a:latin typeface="Malgun Gothic"/>
                <a:ea typeface="Malgun Gothic"/>
                <a:cs typeface="Malgun Gothic"/>
              </a:rPr>
              <a:t>분석이 오래 걸림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5B3F2E-44CD-4C8A-9A9B-4DDC31C7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23A9B5-E361-4C73-B08D-90A2C0C6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43450"/>
            <a:ext cx="6572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671661-7A31-4DB9-B497-3770A359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905375"/>
            <a:ext cx="611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async job과 frontend polling 분리</a:t>
            </a:r>
          </a:p>
        </p:txBody>
      </p:sp>
    </p:spTree>
    <p:extLst>
      <p:ext uri="{BB962C8B-B14F-4D97-AF65-F5344CB8AC3E}">
        <p14:creationId xmlns:p14="http://schemas.microsoft.com/office/powerpoint/2010/main" val="1823953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DCEC33-D8FE-4E3C-899B-70F9A3DB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EFC86-D510-4D82-842A-F498F5C1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20776-3711-4A36-B5E7-DD632D64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OpenAI API 호출 제한과 비용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BAD10-1E70-4182-B415-C8535968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A14C6-6747-44F2-BB6F-E68280E0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기준: ProjectLens AI 파트 코어타임 설명초안 / OpenAI 공식 문서 / Notion 개념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A8970-4A31-457A-9E7F-C32F9433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38137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2975F-EF11-4762-A6C9-95486171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962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호출 제한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4D1BC-63E2-4D17-9EF5-2357D76C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29241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RPM: 분당 요청 수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TPM: 분당 token 수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usage limits: 조직의 월별 사용 한도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B8028-48E0-495B-8601-E28C1E89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28750"/>
            <a:ext cx="338137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741FE-77C4-4DDE-A95A-B2422607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00200"/>
            <a:ext cx="2962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비용 발생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E2BB7-E9C8-43BC-B564-57692B8E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19300"/>
            <a:ext cx="29241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API 가격은 입력/출력 token에 영향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ChatGPT 구독과 API 과금은 별도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Agent tool loop는 호출과 token을 빠르게 늘림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3CA09-6769-458F-88E6-6EDFDA0D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28750"/>
            <a:ext cx="3381375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09BAE-CD58-433B-99E0-E84644EB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00200"/>
            <a:ext cx="2962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자동결제 주의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9F49A-6A58-4189-A17E-08F5DB5A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19300"/>
            <a:ext cx="29241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usage dashboard 확인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monthly budget 설정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prepaid credit 확인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auto recharge와 monthly recharge limit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06252-1F25-4909-B270-85A4DAF2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7200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Agent 루프는 기능 루프이면서 비용 루프이기도 합니다.</a:t>
            </a:r>
          </a:p>
        </p:txBody>
      </p:sp>
    </p:spTree>
    <p:extLst>
      <p:ext uri="{BB962C8B-B14F-4D97-AF65-F5344CB8AC3E}">
        <p14:creationId xmlns:p14="http://schemas.microsoft.com/office/powerpoint/2010/main" val="5353609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B327A7-B766-4589-8A4C-D3A00F07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ACBF8-B0A1-4523-AFBF-7A03C3AA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1476D-EF72-4661-8A90-A6562BF5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크레딧과 자동결제 주의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C9E59-C068-46D9-A9DE-483561A3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D0B00-E203-4CAD-ADF1-A6AC5147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기준: ProjectLens AI 파트 코어타임 설명초안 / OpenAI 공식 문서 / Notion 개념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6EFCF-5697-436B-889D-EFEEA3A2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333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A96FC-1293-49DF-A4F9-C9D24251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실습 전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C3478-117B-4BCE-A111-D4775761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28765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usage dashboard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remaining credits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monthly budget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rate limit 상태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E682E-9C29-447C-9AB1-CB29B49C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428750"/>
            <a:ext cx="3333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A24B9-B8DD-471A-A008-37EB156C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002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prepaid credit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97EA7-678C-43F7-98CE-F4349D61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19300"/>
            <a:ext cx="28765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작은 금액으로 시작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credit 만료/환불 조건 확인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팀원 실습 전 잔액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10CFE-6B43-4980-970C-B3201465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3333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A216F-16F9-4385-8860-59C29F14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0020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auto recharge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02A5F8-C313-4F73-ACA8-17713DD0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19300"/>
            <a:ext cx="28765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setup 중 기본 활성화 여부 확인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원치 않으면 끄기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monthly recharge limit 작게 설정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2583F5-C15F-4728-BBC1-F522C752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29150"/>
            <a:ext cx="92583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9D2E77-03F4-4C0D-8963-45C072B4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76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0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자동결제를 막고 싶다면 auto recharge를 끄거나 monthly recharge limit을 작게 설정합니다.</a:t>
            </a:r>
          </a:p>
        </p:txBody>
      </p:sp>
    </p:spTree>
    <p:extLst>
      <p:ext uri="{BB962C8B-B14F-4D97-AF65-F5344CB8AC3E}">
        <p14:creationId xmlns:p14="http://schemas.microsoft.com/office/powerpoint/2010/main" val="34236083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2C7438-4D92-4491-BAA2-A708DD61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6435E-8D95-43CB-9F2A-57EC7B92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65FA9-05E2-46A7-BD85-5FE0D515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보안 원칙: 외부 결과는 evidence only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BA414-92FE-4B85-A0E8-F4302D3E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B45F2-8260-417C-8952-3FCAB36C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기준: ProjectLens AI 파트 코어타임 설명초안 / OpenAI 공식 문서 / Notion 개념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121F7-92FE-4897-8A9D-AE6B5E6A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4762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2B8C23-2986-4F6E-AC91-9B21625C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383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Evidence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9AB06-D0DC-4FCB-9846-45BFE213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4305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외부 사이트, README, MCP 결과는 지시문이 아니라 근거 데이터입니다.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96940-C6BF-4E9C-AB56-1A36A59E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66850"/>
            <a:ext cx="4762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2A0EA-F703-43A1-A42E-BE315F4D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383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Prompt injection 방어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07A2E-0DA9-46BC-918D-5D51B093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57400"/>
            <a:ext cx="4305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외부 텍스트 안의 명령이나 prompt injection 문구를 따르지 않습니다.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B9CF7-C338-4323-9F40-7D9DF7B9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4762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85068-C84E-4C5F-89CD-F05231ED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비밀값 보호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490025-FDAE-483D-8C08-33F8DA4F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4305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API key와 토큰은 .env나 secret manager에 두고 tool output에 노출하지 않습니다.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BA3CB-19D7-4118-8071-5611F564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14700"/>
            <a:ext cx="4762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5D49C1-B774-42F5-8893-F5D69502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861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URL fetch 방어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1571A5-EEFA-4D6A-9FCF-8F2F330E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305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SSRF, timeout, body limit, redirect 재검증 같은 경계를 둡니다.</a:t>
            </a:r>
          </a:p>
        </p:txBody>
      </p:sp>
    </p:spTree>
    <p:extLst>
      <p:ext uri="{BB962C8B-B14F-4D97-AF65-F5344CB8AC3E}">
        <p14:creationId xmlns:p14="http://schemas.microsoft.com/office/powerpoint/2010/main" val="15351451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C87AF7-74A1-4270-A1A8-0D4129D7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ProjectLens AI core-time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BF0C1-EEB6-43E8-A737-92546944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4CDE3-D198-4CB5-8DC9-A7A63DC8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외울 문장과 Q&amp;A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290A3-B549-47B1-ACF5-2AF446B4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C6639-6973-4116-827D-DF1FF870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7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기준: ProjectLens AI 파트 코어타임 설명초안 / OpenAI 공식 문서 / Notion 개념 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CD77E-FDEF-4BC3-A7CD-595C22EA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8102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136B1-E26D-4B95-94A5-055BE73D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539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외울 문장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C852F-E015-4EA7-A09B-9170ADED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5353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RAG는 학습이 아니라 검색이다.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MCP는 API를 AI가 쓰기 쉽게 감싸는 표준 연결 방식이다.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Agent는 단일 호출이 아니라 생각 -&gt; 행동 -&gt; 관찰 루프다.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모델은 판단하고 backend는 실행과 권한을 통제한다.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외부 결과는 지시문이 아니라 근거 데이터다.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18054-EFF1-4B46-9AB6-A1642586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428750"/>
            <a:ext cx="46101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CE353-A17F-4BD5-A03E-1FBFD784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002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예상 Q&amp;A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F84AE-CC52-4FED-89E0-AF40E110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19300"/>
            <a:ext cx="4152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7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RAG가 학습인가요? -&gt; 아니요, 검색 결과를 context에 넣는 것입니다.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7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MCP와 API 차이는? -&gt; AI가 tool schema를 보고 호출하는 표준 계층입니다.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7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LangGraph가 필수인가요? -&gt; 핵심은 state와 loop가 보이는 구조입니다.</a:t>
            </a:r>
          </a:p>
          <a:p xmlns:a="http://schemas.openxmlformats.org/drawingml/2006/main">
            <a:pPr marL="22" indent="-10">
              <a:lnSpc>
                <a:spcPct val="114000"/>
              </a:lnSpc>
              <a:spcAft>
                <a:spcPts val="5"/>
              </a:spcAft>
              <a:buNone/>
              <a:defRPr sz="1275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비용은 어디서 늘어나나요? -&gt; Agent 루프, tool 호출, 긴 evidence, retry입니다.</a:t>
            </a:r>
          </a:p>
        </p:txBody>
      </p:sp>
    </p:spTree>
    <p:extLst>
      <p:ext uri="{BB962C8B-B14F-4D97-AF65-F5344CB8AC3E}">
        <p14:creationId xmlns:p14="http://schemas.microsoft.com/office/powerpoint/2010/main" val="699577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2026-06-15T11:44:04.7450000Z</dcterms:created>
  <dcterms:modified xsi:type="dcterms:W3CDTF">2026-06-15T11:44:04.7450000Z</dcterms:modified>
</coreProperties>
</file>